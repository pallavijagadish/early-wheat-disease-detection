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83" r:id="rId4"/>
    <p:sldId id="284" r:id="rId5"/>
    <p:sldId id="275" r:id="rId6"/>
    <p:sldId id="285" r:id="rId7"/>
    <p:sldId id="286" r:id="rId8"/>
    <p:sldId id="278" r:id="rId9"/>
    <p:sldId id="287" r:id="rId10"/>
    <p:sldId id="279" r:id="rId11"/>
    <p:sldId id="268" r:id="rId12"/>
    <p:sldId id="282"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60" d="100"/>
          <a:sy n="60" d="100"/>
        </p:scale>
        <p:origin x="9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Early Detection of Wheat </a:t>
            </a:r>
            <a:r>
              <a:rPr lang="en-US" sz="2400" dirty="0">
                <a:latin typeface="Verdana" panose="020B0604030504040204" pitchFamily="34" charset="0"/>
                <a:ea typeface="Verdana" panose="020B0604030504040204" pitchFamily="34" charset="0"/>
                <a:cs typeface="Calibri" panose="020F0502020204030204" pitchFamily="34" charset="0"/>
              </a:rPr>
              <a:t>Diseases</a:t>
            </a:r>
            <a:endParaRPr sz="2400" dirty="0">
              <a:solidFill>
                <a:schemeClr val="tx1"/>
              </a:solidFill>
              <a:latin typeface="Verdana" panose="020B0604030504040204" pitchFamily="34" charset="0"/>
              <a:ea typeface="Verdana" panose="020B0604030504040204" pitchFamily="34" charset="0"/>
              <a:cs typeface="Calibri" panose="020F0502020204030204" pitchFamily="34" charset="0"/>
            </a:endParaRPr>
          </a:p>
        </p:txBody>
      </p:sp>
      <p:sp>
        <p:nvSpPr>
          <p:cNvPr id="88" name="Google Shape;88;p13"/>
          <p:cNvSpPr txBox="1">
            <a:spLocks noGrp="1"/>
          </p:cNvSpPr>
          <p:nvPr>
            <p:ph type="subTitle" idx="1"/>
          </p:nvPr>
        </p:nvSpPr>
        <p:spPr>
          <a:xfrm>
            <a:off x="553348" y="2045352"/>
            <a:ext cx="4628252"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Number:ISE-4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1576879"/>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Dr.Yamanappa</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705317420"/>
              </p:ext>
            </p:extLst>
          </p:nvPr>
        </p:nvGraphicFramePr>
        <p:xfrm>
          <a:off x="553347" y="2721840"/>
          <a:ext cx="5709801" cy="2194620"/>
        </p:xfrm>
        <a:graphic>
          <a:graphicData uri="http://schemas.openxmlformats.org/drawingml/2006/table">
            <a:tbl>
              <a:tblPr firstRow="1" bandRow="1">
                <a:noFill/>
                <a:tableStyleId>{57690726-49DA-4552-BDEB-330DD8EA8BD9}</a:tableStyleId>
              </a:tblPr>
              <a:tblGrid>
                <a:gridCol w="2197019">
                  <a:extLst>
                    <a:ext uri="{9D8B030D-6E8A-4147-A177-3AD203B41FA5}">
                      <a16:colId xmlns:a16="http://schemas.microsoft.com/office/drawing/2014/main" val="20000"/>
                    </a:ext>
                  </a:extLst>
                </a:gridCol>
                <a:gridCol w="3512782">
                  <a:extLst>
                    <a:ext uri="{9D8B030D-6E8A-4147-A177-3AD203B41FA5}">
                      <a16:colId xmlns:a16="http://schemas.microsoft.com/office/drawing/2014/main" val="20001"/>
                    </a:ext>
                  </a:extLst>
                </a:gridCol>
              </a:tblGrid>
              <a:tr h="256418">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56418">
                <a:tc>
                  <a:txBody>
                    <a:bodyPr/>
                    <a:lstStyle/>
                    <a:p>
                      <a:pPr marL="0" marR="0" lvl="0" indent="0" algn="ctr" rtl="0">
                        <a:spcBef>
                          <a:spcPts val="0"/>
                        </a:spcBef>
                        <a:spcAft>
                          <a:spcPts val="0"/>
                        </a:spcAft>
                        <a:buFont typeface="+mj-lt"/>
                        <a:buNone/>
                      </a:pPr>
                      <a:r>
                        <a:rPr lang="en-IN" sz="1800" u="none" strike="noStrike" cap="none" dirty="0"/>
                        <a:t>20221ISE0109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Pallavi 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56418">
                <a:tc>
                  <a:txBody>
                    <a:bodyPr/>
                    <a:lstStyle/>
                    <a:p>
                      <a:pPr marL="0" marR="0" lvl="0" indent="0" algn="ctr" rtl="0">
                        <a:spcBef>
                          <a:spcPts val="0"/>
                        </a:spcBef>
                        <a:spcAft>
                          <a:spcPts val="0"/>
                        </a:spcAft>
                        <a:buNone/>
                      </a:pPr>
                      <a:r>
                        <a:rPr lang="en-IN" sz="1800" u="none" strike="noStrike" cap="none" dirty="0"/>
                        <a:t>20221ISE0117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Ganavi HR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56418">
                <a:tc>
                  <a:txBody>
                    <a:bodyPr/>
                    <a:lstStyle/>
                    <a:p>
                      <a:pPr marL="0" marR="0" lvl="0" indent="0" algn="ctr" rtl="0">
                        <a:spcBef>
                          <a:spcPts val="0"/>
                        </a:spcBef>
                        <a:spcAft>
                          <a:spcPts val="0"/>
                        </a:spcAft>
                        <a:buNone/>
                      </a:pPr>
                      <a:r>
                        <a:rPr lang="en-IN" sz="1800" u="none" strike="noStrike" cap="none" dirty="0"/>
                        <a:t>20221ISE0135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Chandrakala KT</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56418">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56418">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306530"/>
            <a:ext cx="10812743" cy="1789470"/>
          </a:xfrm>
          <a:prstGeom prst="rect">
            <a:avLst/>
          </a:prstGeom>
          <a:noFill/>
          <a:ln>
            <a:noFill/>
          </a:ln>
        </p:spPr>
        <p:txBody>
          <a:bodyPr spcFirstLastPara="1" wrap="square" lIns="91425" tIns="45700" rIns="91425" bIns="45700" anchor="t" anchorCtr="0">
            <a:noAutofit/>
          </a:bodyPr>
          <a:lstStyle/>
          <a:p>
            <a:pPr marL="0" marR="0" lvl="0" indent="0" rtl="0">
              <a:lnSpc>
                <a:spcPct val="150000"/>
              </a:lnSpc>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Btech Information Science and Engineering</a:t>
            </a:r>
          </a:p>
          <a:p>
            <a:pPr marL="0" marR="0" lvl="0" indent="0" rtl="0">
              <a:lnSpc>
                <a:spcPct val="150000"/>
              </a:lnSpc>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Gopal Shyam </a:t>
            </a:r>
          </a:p>
          <a:p>
            <a:pPr lvl="0">
              <a:lnSpc>
                <a:spcPct val="150000"/>
              </a:lnSpc>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Ms. Suma NG</a:t>
            </a:r>
          </a:p>
          <a:p>
            <a:pPr lvl="0">
              <a:lnSpc>
                <a:spcPct val="150000"/>
              </a:lnSpc>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rgbClr val="FF0000"/>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dirty="0">
                <a:latin typeface="Cambria" panose="02040503050406030204" pitchFamily="18" charset="0"/>
                <a:ea typeface="Cambria" panose="02040503050406030204" pitchFamily="18" charset="0"/>
              </a:rPr>
              <a:t>SIH25268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US" dirty="0">
                <a:latin typeface="Cambria" panose="02040503050406030204" pitchFamily="18" charset="0"/>
                <a:ea typeface="Cambria" panose="02040503050406030204" pitchFamily="18" charset="0"/>
              </a:rPr>
              <a:t>Ministry of </a:t>
            </a:r>
            <a:r>
              <a:rPr lang="en-IN" dirty="0">
                <a:latin typeface="Calibri" panose="020F0502020204030204" pitchFamily="34" charset="0"/>
                <a:ea typeface="Calibri" panose="020F0502020204030204" pitchFamily="34" charset="0"/>
                <a:cs typeface="Calibri" panose="020F0502020204030204" pitchFamily="34" charset="0"/>
              </a:rPr>
              <a:t>Agriculture &amp; Farmers Welfare- Government of India</a:t>
            </a:r>
          </a:p>
          <a:p>
            <a:pPr marL="342900" lvl="0" indent="-190500" algn="just">
              <a:spcBef>
                <a:spcPts val="0"/>
              </a:spcBef>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lvl="0" indent="-190500" algn="just">
              <a:spcBef>
                <a:spcPts val="0"/>
              </a:spcBef>
              <a:buNone/>
            </a:pPr>
            <a:r>
              <a:rPr lang="en-US" b="1" dirty="0">
                <a:latin typeface="Cambria" panose="02040503050406030204" pitchFamily="18" charset="0"/>
                <a:ea typeface="Cambria" panose="02040503050406030204" pitchFamily="18" charset="0"/>
              </a:rPr>
              <a:t>Category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p>
          <a:p>
            <a:pPr marL="342900" lvl="0" indent="-190500" algn="just">
              <a:lnSpc>
                <a:spcPct val="2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Wheat is one of the most important staple crops in India, and its productivity is significantly</a:t>
            </a:r>
          </a:p>
          <a:p>
            <a:pPr marL="342900" lvl="0" indent="-190500" algn="just">
              <a:lnSpc>
                <a:spcPct val="2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affected by diseases such as leaf rust, brown rust, and leaf blight. Early identification of these</a:t>
            </a:r>
          </a:p>
          <a:p>
            <a:pPr marL="342900" lvl="0" indent="-190500" algn="just">
              <a:lnSpc>
                <a:spcPct val="2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diseases is challenging for farmers due to lack of expert knowledge, delayed field inspections, and</a:t>
            </a:r>
          </a:p>
          <a:p>
            <a:pPr marL="342900" lvl="0" indent="-190500" algn="just">
              <a:lnSpc>
                <a:spcPct val="2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limited access to agricultural advisory services. Late detection often leads to severe crop damage,</a:t>
            </a:r>
          </a:p>
          <a:p>
            <a:pPr marL="342900" lvl="0" indent="-190500" algn="just">
              <a:lnSpc>
                <a:spcPct val="2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reduced yield, and economic loss for farmers. There is a need for an automated and reliable system</a:t>
            </a:r>
          </a:p>
          <a:p>
            <a:pPr marL="342900" lvl="0" indent="-190500" algn="just">
              <a:lnSpc>
                <a:spcPct val="2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to assist farmers in the early detection of wheat diseases.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58E4-D3D6-4B44-DA89-9A4671399F23}"/>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Abstract</a:t>
            </a: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73FAFA3C-4933-1703-59A3-C0392FABFD55}"/>
              </a:ext>
            </a:extLst>
          </p:cNvPr>
          <p:cNvSpPr>
            <a:spLocks noGrp="1"/>
          </p:cNvSpPr>
          <p:nvPr>
            <p:ph type="body" idx="1"/>
          </p:nvPr>
        </p:nvSpPr>
        <p:spPr/>
        <p:txBody>
          <a:bodyPr>
            <a:normAutofit/>
          </a:bodyPr>
          <a:lstStyle/>
          <a:p>
            <a:pPr marL="76200" indent="0">
              <a:lnSpc>
                <a:spcPct val="150000"/>
              </a:lnSpc>
              <a:buNone/>
            </a:pPr>
            <a:r>
              <a:rPr lang="en-US" sz="2000" dirty="0">
                <a:latin typeface="Calibri" panose="020F0502020204030204" pitchFamily="34" charset="0"/>
                <a:ea typeface="Calibri" panose="020F0502020204030204" pitchFamily="34" charset="0"/>
                <a:cs typeface="Calibri" panose="020F0502020204030204" pitchFamily="34" charset="0"/>
              </a:rPr>
              <a:t>Wheat is a major staple crop in India, and its yield is significantly affected by diseases such as leaf rust, brown rust, and leaf blight. Early detection of these diseases is difficult for farmers due to lack of expert knowledge and delayed field inspections. This project proposes an AI-based early detection system that analyzes wheat leaf images using deep learning techniques to identify disease presence at an early stage. The system provides prediction results along with advisory suggestions to assist farmers in preventive measures. The approach focuses on image classification, accuracy analysis, and visualization of disease trends using a simple and cost-effective software solution developed in Python using Google Colab/VS Code</a:t>
            </a:r>
          </a:p>
          <a:p>
            <a:pPr>
              <a:lnSpc>
                <a:spcPct val="150000"/>
              </a:lnSpc>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0226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17039-8263-63AC-2F15-8BF60834EB46}"/>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a:t>
            </a:r>
          </a:p>
        </p:txBody>
      </p:sp>
      <p:sp>
        <p:nvSpPr>
          <p:cNvPr id="3" name="Text Placeholder 2">
            <a:extLst>
              <a:ext uri="{FF2B5EF4-FFF2-40B4-BE49-F238E27FC236}">
                <a16:creationId xmlns:a16="http://schemas.microsoft.com/office/drawing/2014/main" id="{EA0DBC77-D802-CF19-B378-B29EC318CE33}"/>
              </a:ext>
            </a:extLst>
          </p:cNvPr>
          <p:cNvSpPr>
            <a:spLocks noGrp="1"/>
          </p:cNvSpPr>
          <p:nvPr>
            <p:ph type="body" idx="1"/>
          </p:nvPr>
        </p:nvSpPr>
        <p:spPr/>
        <p:txBody>
          <a:bodyPr>
            <a:normAutofit fontScale="77500" lnSpcReduction="20000"/>
          </a:bodyPr>
          <a:lstStyle/>
          <a:p>
            <a:r>
              <a:rPr lang="en-IN" dirty="0">
                <a:latin typeface="Calibri" panose="020F0502020204030204" pitchFamily="34" charset="0"/>
                <a:ea typeface="Calibri" panose="020F0502020204030204" pitchFamily="34" charset="0"/>
                <a:cs typeface="Calibri" panose="020F0502020204030204" pitchFamily="34" charset="0"/>
              </a:rPr>
              <a:t>Mohanty et al. (2016) – Demonstrated deep CNN for plant disease detection using PlantVillage dataset with high accuracy.</a:t>
            </a:r>
          </a:p>
          <a:p>
            <a:r>
              <a:rPr lang="en-IN" dirty="0">
                <a:latin typeface="Calibri" panose="020F0502020204030204" pitchFamily="34" charset="0"/>
                <a:ea typeface="Calibri" panose="020F0502020204030204" pitchFamily="34" charset="0"/>
                <a:cs typeface="Calibri" panose="020F0502020204030204" pitchFamily="34" charset="0"/>
              </a:rPr>
              <a:t>Ferentinos (2018) – Used deep learning architectures for crop disease classification and achieved strong performance.</a:t>
            </a:r>
          </a:p>
          <a:p>
            <a:r>
              <a:rPr lang="en-IN" dirty="0">
                <a:latin typeface="Calibri" panose="020F0502020204030204" pitchFamily="34" charset="0"/>
                <a:ea typeface="Calibri" panose="020F0502020204030204" pitchFamily="34" charset="0"/>
                <a:cs typeface="Calibri" panose="020F0502020204030204" pitchFamily="34" charset="0"/>
              </a:rPr>
              <a:t>Too et al. (2019) – Compared multiple CNN models for agricultural image classification.</a:t>
            </a:r>
          </a:p>
          <a:p>
            <a:r>
              <a:rPr lang="en-IN" dirty="0">
                <a:latin typeface="Calibri" panose="020F0502020204030204" pitchFamily="34" charset="0"/>
                <a:ea typeface="Calibri" panose="020F0502020204030204" pitchFamily="34" charset="0"/>
                <a:cs typeface="Calibri" panose="020F0502020204030204" pitchFamily="34" charset="0"/>
              </a:rPr>
              <a:t>Sladojevic et al. (2016) – Proposed deep neural networks for automatic plant disease recognition.</a:t>
            </a:r>
          </a:p>
          <a:p>
            <a:r>
              <a:rPr lang="en-IN" dirty="0">
                <a:latin typeface="Calibri" panose="020F0502020204030204" pitchFamily="34" charset="0"/>
                <a:ea typeface="Calibri" panose="020F0502020204030204" pitchFamily="34" charset="0"/>
                <a:cs typeface="Calibri" panose="020F0502020204030204" pitchFamily="34" charset="0"/>
              </a:rPr>
              <a:t>Brahimi et al. (2017) – Applied CNN for leaf disease detection and classification.</a:t>
            </a:r>
          </a:p>
          <a:p>
            <a:r>
              <a:rPr lang="en-IN" dirty="0">
                <a:latin typeface="Calibri" panose="020F0502020204030204" pitchFamily="34" charset="0"/>
                <a:ea typeface="Calibri" panose="020F0502020204030204" pitchFamily="34" charset="0"/>
                <a:cs typeface="Calibri" panose="020F0502020204030204" pitchFamily="34" charset="0"/>
              </a:rPr>
              <a:t>Zhang et al. (2020) – Used transfer learning for crop disease identification.</a:t>
            </a:r>
          </a:p>
          <a:p>
            <a:r>
              <a:rPr lang="en-IN" dirty="0">
                <a:latin typeface="Calibri" panose="020F0502020204030204" pitchFamily="34" charset="0"/>
                <a:ea typeface="Calibri" panose="020F0502020204030204" pitchFamily="34" charset="0"/>
                <a:cs typeface="Calibri" panose="020F0502020204030204" pitchFamily="34" charset="0"/>
              </a:rPr>
              <a:t>Picon et al. (2019) – Applied computer vision techniques for wheat disease detection.</a:t>
            </a:r>
          </a:p>
          <a:p>
            <a:r>
              <a:rPr lang="en-IN" dirty="0">
                <a:latin typeface="Calibri" panose="020F0502020204030204" pitchFamily="34" charset="0"/>
                <a:ea typeface="Calibri" panose="020F0502020204030204" pitchFamily="34" charset="0"/>
                <a:cs typeface="Calibri" panose="020F0502020204030204" pitchFamily="34" charset="0"/>
              </a:rPr>
              <a:t>Kamilaris &amp; </a:t>
            </a:r>
            <a:r>
              <a:rPr lang="en-IN" dirty="0" err="1">
                <a:latin typeface="Calibri" panose="020F0502020204030204" pitchFamily="34" charset="0"/>
                <a:ea typeface="Calibri" panose="020F0502020204030204" pitchFamily="34" charset="0"/>
                <a:cs typeface="Calibri" panose="020F0502020204030204" pitchFamily="34" charset="0"/>
              </a:rPr>
              <a:t>Prenafeta</a:t>
            </a:r>
            <a:r>
              <a:rPr lang="en-IN" dirty="0">
                <a:latin typeface="Calibri" panose="020F0502020204030204" pitchFamily="34" charset="0"/>
                <a:ea typeface="Calibri" panose="020F0502020204030204" pitchFamily="34" charset="0"/>
                <a:cs typeface="Calibri" panose="020F0502020204030204" pitchFamily="34" charset="0"/>
              </a:rPr>
              <a:t> (2018) – Reviewed deep learning applications in agriculture.</a:t>
            </a:r>
          </a:p>
          <a:p>
            <a:r>
              <a:rPr lang="en-IN" dirty="0">
                <a:latin typeface="Calibri" panose="020F0502020204030204" pitchFamily="34" charset="0"/>
                <a:ea typeface="Calibri" panose="020F0502020204030204" pitchFamily="34" charset="0"/>
                <a:cs typeface="Calibri" panose="020F0502020204030204" pitchFamily="34" charset="0"/>
              </a:rPr>
              <a:t>Barbedo (2018) – Surveyed image-based plant disease detection methods.</a:t>
            </a:r>
          </a:p>
          <a:p>
            <a:r>
              <a:rPr lang="en-IN" dirty="0">
                <a:latin typeface="Calibri" panose="020F0502020204030204" pitchFamily="34" charset="0"/>
                <a:ea typeface="Calibri" panose="020F0502020204030204" pitchFamily="34" charset="0"/>
                <a:cs typeface="Calibri" panose="020F0502020204030204" pitchFamily="34" charset="0"/>
              </a:rPr>
              <a:t>Liu et al. (2017) – Implemented deep learning for crop health monitoring.</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Observation:</a:t>
            </a:r>
            <a:r>
              <a:rPr lang="en-IN" dirty="0">
                <a:latin typeface="Calibri" panose="020F0502020204030204" pitchFamily="34" charset="0"/>
                <a:ea typeface="Calibri" panose="020F0502020204030204" pitchFamily="34" charset="0"/>
                <a:cs typeface="Calibri" panose="020F0502020204030204" pitchFamily="34" charset="0"/>
              </a:rPr>
              <a:t> Most research uses CNN and transfer learning; however, many systems lack advisory support and real-time usability for farmers. Our project focuses on early detection plus advisory output with simplified implementation.</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0654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904E3-DE36-D82D-ACC8-F076F9F24760}"/>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Objective:</a:t>
            </a:r>
          </a:p>
        </p:txBody>
      </p:sp>
      <p:sp>
        <p:nvSpPr>
          <p:cNvPr id="6" name="Rectangle 3">
            <a:extLst>
              <a:ext uri="{FF2B5EF4-FFF2-40B4-BE49-F238E27FC236}">
                <a16:creationId xmlns:a16="http://schemas.microsoft.com/office/drawing/2014/main" id="{22CCA121-CBA5-C8F3-CC31-6CED1FDDA19A}"/>
              </a:ext>
            </a:extLst>
          </p:cNvPr>
          <p:cNvSpPr>
            <a:spLocks noGrp="1" noChangeArrowheads="1"/>
          </p:cNvSpPr>
          <p:nvPr>
            <p:ph type="body" idx="1"/>
          </p:nvPr>
        </p:nvSpPr>
        <p:spPr bwMode="auto">
          <a:xfrm>
            <a:off x="812800" y="1314721"/>
            <a:ext cx="949140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develop an automated system for early detection of wheat diseases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assist farmers in identifying crop health conditions using image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reduce crop loss through timely disease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provide advisory support for preventive actions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enable data-driven monitoring of disease patterns</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535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C779A-5ED7-5547-43FA-19B3A7D8C960}"/>
              </a:ext>
            </a:extLst>
          </p:cNvPr>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Existing Methods and Drawbacks</a:t>
            </a:r>
            <a:br>
              <a:rPr lang="en-US"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9CFC210A-78C1-5ED5-39C3-D74FD2C6C24F}"/>
              </a:ext>
            </a:extLst>
          </p:cNvPr>
          <p:cNvSpPr>
            <a:spLocks noGrp="1"/>
          </p:cNvSpPr>
          <p:nvPr>
            <p:ph type="body" idx="1"/>
          </p:nvPr>
        </p:nvSpPr>
        <p:spPr/>
        <p:txBody>
          <a:bodyPr/>
          <a:lstStyle/>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Existing Methods</a:t>
            </a:r>
          </a:p>
          <a:p>
            <a:r>
              <a:rPr lang="en-US" dirty="0">
                <a:latin typeface="Calibri" panose="020F0502020204030204" pitchFamily="34" charset="0"/>
                <a:ea typeface="Calibri" panose="020F0502020204030204" pitchFamily="34" charset="0"/>
                <a:cs typeface="Calibri" panose="020F0502020204030204" pitchFamily="34" charset="0"/>
              </a:rPr>
              <a:t>Manual inspection by agricultural experts.</a:t>
            </a:r>
          </a:p>
          <a:p>
            <a:r>
              <a:rPr lang="en-US" dirty="0">
                <a:latin typeface="Calibri" panose="020F0502020204030204" pitchFamily="34" charset="0"/>
                <a:ea typeface="Calibri" panose="020F0502020204030204" pitchFamily="34" charset="0"/>
                <a:cs typeface="Calibri" panose="020F0502020204030204" pitchFamily="34" charset="0"/>
              </a:rPr>
              <a:t>Laboratory testing of crop samples.</a:t>
            </a:r>
          </a:p>
          <a:p>
            <a:r>
              <a:rPr lang="en-US" dirty="0">
                <a:latin typeface="Calibri" panose="020F0502020204030204" pitchFamily="34" charset="0"/>
                <a:ea typeface="Calibri" panose="020F0502020204030204" pitchFamily="34" charset="0"/>
                <a:cs typeface="Calibri" panose="020F0502020204030204" pitchFamily="34" charset="0"/>
              </a:rPr>
              <a:t>Basic computer vision techniques without deep learning.</a:t>
            </a:r>
          </a:p>
          <a:p>
            <a:pPr marL="7620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Drawbacks</a:t>
            </a:r>
          </a:p>
          <a:p>
            <a:r>
              <a:rPr lang="en-US" dirty="0">
                <a:latin typeface="Calibri" panose="020F0502020204030204" pitchFamily="34" charset="0"/>
                <a:ea typeface="Calibri" panose="020F0502020204030204" pitchFamily="34" charset="0"/>
                <a:cs typeface="Calibri" panose="020F0502020204030204" pitchFamily="34" charset="0"/>
              </a:rPr>
              <a:t>Time-consuming and expensive.</a:t>
            </a:r>
          </a:p>
          <a:p>
            <a:r>
              <a:rPr lang="en-US" dirty="0">
                <a:latin typeface="Calibri" panose="020F0502020204030204" pitchFamily="34" charset="0"/>
                <a:ea typeface="Calibri" panose="020F0502020204030204" pitchFamily="34" charset="0"/>
                <a:cs typeface="Calibri" panose="020F0502020204030204" pitchFamily="34" charset="0"/>
              </a:rPr>
              <a:t>Limited accessibility for rural farmers.</a:t>
            </a:r>
          </a:p>
          <a:p>
            <a:r>
              <a:rPr lang="en-US" dirty="0">
                <a:latin typeface="Calibri" panose="020F0502020204030204" pitchFamily="34" charset="0"/>
                <a:ea typeface="Calibri" panose="020F0502020204030204" pitchFamily="34" charset="0"/>
                <a:cs typeface="Calibri" panose="020F0502020204030204" pitchFamily="34" charset="0"/>
              </a:rPr>
              <a:t>Human error and delayed detection.</a:t>
            </a:r>
          </a:p>
          <a:p>
            <a:r>
              <a:rPr lang="en-US" dirty="0">
                <a:latin typeface="Calibri" panose="020F0502020204030204" pitchFamily="34" charset="0"/>
                <a:ea typeface="Calibri" panose="020F0502020204030204" pitchFamily="34" charset="0"/>
                <a:cs typeface="Calibri" panose="020F0502020204030204" pitchFamily="34" charset="0"/>
              </a:rPr>
              <a:t>Lack of automation and analytics support.</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8224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B3FF-CAAA-3802-FE7F-8841620468CA}"/>
              </a:ext>
            </a:extLst>
          </p:cNvPr>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Proposed Method &amp; Feasibility Study</a:t>
            </a:r>
            <a:br>
              <a:rPr lang="en-US"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0ADBAA16-B711-FA3A-1B64-874CFDE889A5}"/>
              </a:ext>
            </a:extLst>
          </p:cNvPr>
          <p:cNvSpPr>
            <a:spLocks noGrp="1"/>
          </p:cNvSpPr>
          <p:nvPr>
            <p:ph type="body" idx="1"/>
          </p:nvPr>
        </p:nvSpPr>
        <p:spPr/>
        <p:txBody>
          <a:bodyPr>
            <a:normAutofit/>
          </a:bodyPr>
          <a:lstStyle/>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Proposed Method</a:t>
            </a:r>
          </a:p>
          <a:p>
            <a:r>
              <a:rPr lang="en-US" sz="2000" dirty="0">
                <a:latin typeface="Calibri" panose="020F0502020204030204" pitchFamily="34" charset="0"/>
                <a:ea typeface="Calibri" panose="020F0502020204030204" pitchFamily="34" charset="0"/>
                <a:cs typeface="Calibri" panose="020F0502020204030204" pitchFamily="34" charset="0"/>
              </a:rPr>
              <a:t>The system uses </a:t>
            </a:r>
            <a:r>
              <a:rPr lang="en-US" sz="2000" b="1" dirty="0">
                <a:latin typeface="Calibri" panose="020F0502020204030204" pitchFamily="34" charset="0"/>
                <a:ea typeface="Calibri" panose="020F0502020204030204" pitchFamily="34" charset="0"/>
                <a:cs typeface="Calibri" panose="020F0502020204030204" pitchFamily="34" charset="0"/>
              </a:rPr>
              <a:t>Convolutional Neural Networks (CNN)</a:t>
            </a:r>
            <a:r>
              <a:rPr lang="en-US" sz="2000" dirty="0">
                <a:latin typeface="Calibri" panose="020F0502020204030204" pitchFamily="34" charset="0"/>
                <a:ea typeface="Calibri" panose="020F0502020204030204" pitchFamily="34" charset="0"/>
                <a:cs typeface="Calibri" panose="020F0502020204030204" pitchFamily="34" charset="0"/>
              </a:rPr>
              <a:t> to analyze wheat leaf images. Images are preprocessed, normalized, and fed into a trained deep learning model. The model predicts disease type and displays advisory suggestions. Accuracy graphs and visualization charts are generated to monitor performance.</a:t>
            </a:r>
          </a:p>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Feasibility Study</a:t>
            </a:r>
          </a:p>
          <a:p>
            <a:r>
              <a:rPr lang="en-US" sz="2000" b="1" dirty="0">
                <a:latin typeface="Calibri" panose="020F0502020204030204" pitchFamily="34" charset="0"/>
                <a:ea typeface="Calibri" panose="020F0502020204030204" pitchFamily="34" charset="0"/>
                <a:cs typeface="Calibri" panose="020F0502020204030204" pitchFamily="34" charset="0"/>
              </a:rPr>
              <a:t>Technical Feasibility:</a:t>
            </a:r>
            <a:r>
              <a:rPr lang="en-US" sz="2000" dirty="0">
                <a:latin typeface="Calibri" panose="020F0502020204030204" pitchFamily="34" charset="0"/>
                <a:ea typeface="Calibri" panose="020F0502020204030204" pitchFamily="34" charset="0"/>
                <a:cs typeface="Calibri" panose="020F0502020204030204" pitchFamily="34" charset="0"/>
              </a:rPr>
              <a:t>Uses open-source tools (Python, TensorFlow, Google Colab) requiring no paid infrastructure.</a:t>
            </a:r>
          </a:p>
          <a:p>
            <a:r>
              <a:rPr lang="en-US" sz="2000" b="1" dirty="0">
                <a:latin typeface="Calibri" panose="020F0502020204030204" pitchFamily="34" charset="0"/>
                <a:ea typeface="Calibri" panose="020F0502020204030204" pitchFamily="34" charset="0"/>
                <a:cs typeface="Calibri" panose="020F0502020204030204" pitchFamily="34" charset="0"/>
              </a:rPr>
              <a:t>Economic Feasibility: </a:t>
            </a:r>
            <a:r>
              <a:rPr lang="en-US" sz="2000" dirty="0">
                <a:latin typeface="Calibri" panose="020F0502020204030204" pitchFamily="34" charset="0"/>
                <a:ea typeface="Calibri" panose="020F0502020204030204" pitchFamily="34" charset="0"/>
                <a:cs typeface="Calibri" panose="020F0502020204030204" pitchFamily="34" charset="0"/>
              </a:rPr>
              <a:t>Low cost since datasets and tools are free.</a:t>
            </a:r>
          </a:p>
          <a:p>
            <a:r>
              <a:rPr lang="en-US" sz="2000" b="1" dirty="0">
                <a:latin typeface="Calibri" panose="020F0502020204030204" pitchFamily="34" charset="0"/>
                <a:ea typeface="Calibri" panose="020F0502020204030204" pitchFamily="34" charset="0"/>
                <a:cs typeface="Calibri" panose="020F0502020204030204" pitchFamily="34" charset="0"/>
              </a:rPr>
              <a:t>Operational Feasibility: </a:t>
            </a:r>
            <a:r>
              <a:rPr lang="en-US" sz="2000" dirty="0">
                <a:latin typeface="Calibri" panose="020F0502020204030204" pitchFamily="34" charset="0"/>
                <a:ea typeface="Calibri" panose="020F0502020204030204" pitchFamily="34" charset="0"/>
                <a:cs typeface="Calibri" panose="020F0502020204030204" pitchFamily="34" charset="0"/>
              </a:rPr>
              <a:t>Easy to operate; only image input required.</a:t>
            </a:r>
          </a:p>
          <a:p>
            <a:r>
              <a:rPr lang="en-US" sz="2000" b="1" dirty="0">
                <a:latin typeface="Calibri" panose="020F0502020204030204" pitchFamily="34" charset="0"/>
                <a:ea typeface="Calibri" panose="020F0502020204030204" pitchFamily="34" charset="0"/>
                <a:cs typeface="Calibri" panose="020F0502020204030204" pitchFamily="34" charset="0"/>
              </a:rPr>
              <a:t>Resource Feasibility: </a:t>
            </a:r>
            <a:r>
              <a:rPr lang="en-US" sz="2000" dirty="0">
                <a:latin typeface="Calibri" panose="020F0502020204030204" pitchFamily="34" charset="0"/>
                <a:ea typeface="Calibri" panose="020F0502020204030204" pitchFamily="34" charset="0"/>
                <a:cs typeface="Calibri" panose="020F0502020204030204" pitchFamily="34" charset="0"/>
              </a:rPr>
              <a:t>Runs on standard laptops or cloud notebooks.</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1389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D3EF-E6F0-0884-E9AD-049128CDF28D}"/>
              </a:ext>
            </a:extLst>
          </p:cNvPr>
          <p:cNvSpPr>
            <a:spLocks noGrp="1"/>
          </p:cNvSpPr>
          <p:nvPr>
            <p:ph type="title"/>
          </p:nvPr>
        </p:nvSpPr>
        <p:spPr>
          <a:xfrm>
            <a:off x="812800" y="274637"/>
            <a:ext cx="10668000" cy="757749"/>
          </a:xfrm>
        </p:spPr>
        <p:txBody>
          <a:bodyPr/>
          <a:lstStyle/>
          <a:p>
            <a:r>
              <a:rPr lang="en-IN" sz="2400" dirty="0">
                <a:latin typeface="Cambria" panose="02040503050406030204" pitchFamily="18" charset="0"/>
                <a:ea typeface="Cambria" panose="02040503050406030204" pitchFamily="18" charset="0"/>
              </a:rPr>
              <a:t>Architecture Diagram</a:t>
            </a:r>
          </a:p>
        </p:txBody>
      </p:sp>
      <p:sp>
        <p:nvSpPr>
          <p:cNvPr id="3" name="Text Placeholder 2">
            <a:extLst>
              <a:ext uri="{FF2B5EF4-FFF2-40B4-BE49-F238E27FC236}">
                <a16:creationId xmlns:a16="http://schemas.microsoft.com/office/drawing/2014/main" id="{FD83798A-C0CB-22FE-9F08-28EE0B11257A}"/>
              </a:ext>
            </a:extLst>
          </p:cNvPr>
          <p:cNvSpPr>
            <a:spLocks noGrp="1"/>
          </p:cNvSpPr>
          <p:nvPr>
            <p:ph type="body" idx="1"/>
          </p:nvPr>
        </p:nvSpPr>
        <p:spPr>
          <a:xfrm>
            <a:off x="762000" y="1032385"/>
            <a:ext cx="10668000" cy="5171769"/>
          </a:xfrm>
        </p:spPr>
        <p:txBody>
          <a:bodyPr>
            <a:noAutofit/>
          </a:bodyPr>
          <a:lstStyle/>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Input Layer:</a:t>
            </a:r>
            <a:r>
              <a:rPr lang="en-US" sz="2000" dirty="0">
                <a:latin typeface="Calibri" panose="020F0502020204030204" pitchFamily="34" charset="0"/>
                <a:ea typeface="Calibri" panose="020F0502020204030204" pitchFamily="34" charset="0"/>
                <a:cs typeface="Calibri" panose="020F0502020204030204" pitchFamily="34" charset="0"/>
              </a:rPr>
              <a:t> Wheat leaf image upload.</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b="1" dirty="0">
                <a:latin typeface="Calibri" panose="020F0502020204030204" pitchFamily="34" charset="0"/>
                <a:ea typeface="Calibri" panose="020F0502020204030204" pitchFamily="34" charset="0"/>
                <a:cs typeface="Calibri" panose="020F0502020204030204" pitchFamily="34" charset="0"/>
              </a:rPr>
              <a:t>Processing Layer:</a:t>
            </a:r>
            <a:r>
              <a:rPr lang="en-US" sz="2000" dirty="0">
                <a:latin typeface="Calibri" panose="020F0502020204030204" pitchFamily="34" charset="0"/>
                <a:ea typeface="Calibri" panose="020F0502020204030204" pitchFamily="34" charset="0"/>
                <a:cs typeface="Calibri" panose="020F0502020204030204" pitchFamily="34" charset="0"/>
              </a:rPr>
              <a:t> Image preprocessing, CNN model training and classification.</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b="1" dirty="0">
                <a:latin typeface="Calibri" panose="020F0502020204030204" pitchFamily="34" charset="0"/>
                <a:ea typeface="Calibri" panose="020F0502020204030204" pitchFamily="34" charset="0"/>
                <a:cs typeface="Calibri" panose="020F0502020204030204" pitchFamily="34" charset="0"/>
              </a:rPr>
              <a:t>Output Layer:</a:t>
            </a:r>
            <a:r>
              <a:rPr lang="en-US" sz="2000" dirty="0">
                <a:latin typeface="Calibri" panose="020F0502020204030204" pitchFamily="34" charset="0"/>
                <a:ea typeface="Calibri" panose="020F0502020204030204" pitchFamily="34" charset="0"/>
                <a:cs typeface="Calibri" panose="020F0502020204030204" pitchFamily="34" charset="0"/>
              </a:rPr>
              <a:t> Disease prediction, confidence score, advisory message, and visualization graphs.</a:t>
            </a: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5191B5B-8E0E-84F3-99B2-01D48CE4457B}"/>
              </a:ext>
            </a:extLst>
          </p:cNvPr>
          <p:cNvPicPr>
            <a:picLocks noChangeAspect="1"/>
          </p:cNvPicPr>
          <p:nvPr/>
        </p:nvPicPr>
        <p:blipFill>
          <a:blip r:embed="rId2"/>
          <a:stretch>
            <a:fillRect/>
          </a:stretch>
        </p:blipFill>
        <p:spPr>
          <a:xfrm>
            <a:off x="3031958" y="2229853"/>
            <a:ext cx="6493042" cy="3801979"/>
          </a:xfrm>
          <a:prstGeom prst="rect">
            <a:avLst/>
          </a:prstGeom>
        </p:spPr>
      </p:pic>
    </p:spTree>
    <p:extLst>
      <p:ext uri="{BB962C8B-B14F-4D97-AF65-F5344CB8AC3E}">
        <p14:creationId xmlns:p14="http://schemas.microsoft.com/office/powerpoint/2010/main" val="237925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F515D-1B71-9108-0578-6AAD50D3B47C}"/>
              </a:ext>
            </a:extLst>
          </p:cNvPr>
          <p:cNvSpPr>
            <a:spLocks noGrp="1"/>
          </p:cNvSpPr>
          <p:nvPr>
            <p:ph type="title"/>
          </p:nvPr>
        </p:nvSpPr>
        <p:spPr/>
        <p:txBody>
          <a:bodyPr/>
          <a:lstStyle/>
          <a:p>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Modules</a:t>
            </a: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F60320F6-D6AB-ECE3-0A13-8812753A469C}"/>
              </a:ext>
            </a:extLst>
          </p:cNvPr>
          <p:cNvSpPr>
            <a:spLocks noGrp="1"/>
          </p:cNvSpPr>
          <p:nvPr>
            <p:ph type="body" idx="1"/>
          </p:nvPr>
        </p:nvSpPr>
        <p:spPr/>
        <p:txBody>
          <a:bodyPr>
            <a:normAutofit/>
          </a:bodyPr>
          <a:lstStyle/>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Image Input Module</a:t>
            </a:r>
            <a:r>
              <a:rPr lang="en-IN" sz="2000" dirty="0">
                <a:latin typeface="Calibri" panose="020F0502020204030204" pitchFamily="34" charset="0"/>
                <a:ea typeface="Calibri" panose="020F0502020204030204" pitchFamily="34" charset="0"/>
                <a:cs typeface="Calibri" panose="020F0502020204030204" pitchFamily="34" charset="0"/>
              </a:rPr>
              <a:t> – Uploads wheat leaf images.</a:t>
            </a:r>
          </a:p>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Preprocessing Module</a:t>
            </a:r>
            <a:r>
              <a:rPr lang="en-IN" sz="2000" dirty="0">
                <a:latin typeface="Calibri" panose="020F0502020204030204" pitchFamily="34" charset="0"/>
                <a:ea typeface="Calibri" panose="020F0502020204030204" pitchFamily="34" charset="0"/>
                <a:cs typeface="Calibri" panose="020F0502020204030204" pitchFamily="34" charset="0"/>
              </a:rPr>
              <a:t> – Resizes and normalizes images.</a:t>
            </a:r>
          </a:p>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Model Training Module</a:t>
            </a:r>
            <a:r>
              <a:rPr lang="en-IN" sz="2000" dirty="0">
                <a:latin typeface="Calibri" panose="020F0502020204030204" pitchFamily="34" charset="0"/>
                <a:ea typeface="Calibri" panose="020F0502020204030204" pitchFamily="34" charset="0"/>
                <a:cs typeface="Calibri" panose="020F0502020204030204" pitchFamily="34" charset="0"/>
              </a:rPr>
              <a:t> – CNN training using dataset.</a:t>
            </a:r>
          </a:p>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Prediction Module</a:t>
            </a:r>
            <a:r>
              <a:rPr lang="en-IN" sz="2000" dirty="0">
                <a:latin typeface="Calibri" panose="020F0502020204030204" pitchFamily="34" charset="0"/>
                <a:ea typeface="Calibri" panose="020F0502020204030204" pitchFamily="34" charset="0"/>
                <a:cs typeface="Calibri" panose="020F0502020204030204" pitchFamily="34" charset="0"/>
              </a:rPr>
              <a:t> – Classifies disease type.</a:t>
            </a:r>
          </a:p>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Advisory Module</a:t>
            </a:r>
            <a:r>
              <a:rPr lang="en-IN" sz="2000" dirty="0">
                <a:latin typeface="Calibri" panose="020F0502020204030204" pitchFamily="34" charset="0"/>
                <a:ea typeface="Calibri" panose="020F0502020204030204" pitchFamily="34" charset="0"/>
                <a:cs typeface="Calibri" panose="020F0502020204030204" pitchFamily="34" charset="0"/>
              </a:rPr>
              <a:t> – Displays preventive suggestions.</a:t>
            </a:r>
          </a:p>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Analytics Module</a:t>
            </a:r>
            <a:r>
              <a:rPr lang="en-IN" sz="2000" dirty="0">
                <a:latin typeface="Calibri" panose="020F0502020204030204" pitchFamily="34" charset="0"/>
                <a:ea typeface="Calibri" panose="020F0502020204030204" pitchFamily="34" charset="0"/>
                <a:cs typeface="Calibri" panose="020F0502020204030204" pitchFamily="34" charset="0"/>
              </a:rPr>
              <a:t> – Accuracy graphs and trend visualization.</a:t>
            </a:r>
          </a:p>
          <a:p>
            <a:pPr marL="76200" indent="0">
              <a:lnSpc>
                <a:spcPct val="150000"/>
              </a:lnSpc>
              <a:buNone/>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209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A4CA8-1FF1-B34E-DDEB-28C6CA3804AC}"/>
              </a:ext>
            </a:extLst>
          </p:cNvPr>
          <p:cNvSpPr>
            <a:spLocks noGrp="1"/>
          </p:cNvSpPr>
          <p:nvPr>
            <p:ph type="title"/>
          </p:nvPr>
        </p:nvSpPr>
        <p:spPr/>
        <p:txBody>
          <a:bodyPr/>
          <a:lstStyle/>
          <a:p>
            <a:r>
              <a:rPr lang="en-IN" sz="2400" dirty="0"/>
              <a:t>Technology Stack Components</a:t>
            </a:r>
            <a:endParaRPr lang="en-IN" sz="2400" dirty="0">
              <a:latin typeface="Cambria" panose="02040503050406030204" pitchFamily="18" charset="0"/>
              <a:ea typeface="Cambria" panose="02040503050406030204" pitchFamily="18" charset="0"/>
            </a:endParaRPr>
          </a:p>
        </p:txBody>
      </p:sp>
      <p:sp>
        <p:nvSpPr>
          <p:cNvPr id="5" name="Rectangle 2">
            <a:extLst>
              <a:ext uri="{FF2B5EF4-FFF2-40B4-BE49-F238E27FC236}">
                <a16:creationId xmlns:a16="http://schemas.microsoft.com/office/drawing/2014/main" id="{7CC62811-7C07-DCA3-8279-3A4CCFD48DE5}"/>
              </a:ext>
            </a:extLst>
          </p:cNvPr>
          <p:cNvSpPr>
            <a:spLocks noGrp="1" noChangeArrowheads="1"/>
          </p:cNvSpPr>
          <p:nvPr>
            <p:ph type="body" idx="1"/>
          </p:nvPr>
        </p:nvSpPr>
        <p:spPr bwMode="auto">
          <a:xfrm>
            <a:off x="812800" y="1025030"/>
            <a:ext cx="10194723" cy="4824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lnSpc>
                <a:spcPct val="150000"/>
              </a:lnSpc>
              <a:buNone/>
            </a:pPr>
            <a:r>
              <a:rPr lang="en-IN" sz="2000" b="1" dirty="0">
                <a:latin typeface="Calibri" panose="020F0502020204030204" pitchFamily="34" charset="0"/>
                <a:ea typeface="Calibri" panose="020F0502020204030204" pitchFamily="34" charset="0"/>
                <a:cs typeface="Calibri" panose="020F0502020204030204" pitchFamily="34" charset="0"/>
              </a:rPr>
              <a:t>Hardware</a:t>
            </a:r>
            <a:endParaRPr lang="en-IN" sz="20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Laptop/Desktop (8GB RAM recommended)</a:t>
            </a: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Internet connection (for dataset download)</a:t>
            </a:r>
          </a:p>
          <a:p>
            <a:pPr marL="76200" indent="0">
              <a:lnSpc>
                <a:spcPct val="150000"/>
              </a:lnSpc>
              <a:buNone/>
            </a:pPr>
            <a:r>
              <a:rPr lang="en-IN" sz="2000" b="1" dirty="0">
                <a:latin typeface="Calibri" panose="020F0502020204030204" pitchFamily="34" charset="0"/>
                <a:ea typeface="Calibri" panose="020F0502020204030204" pitchFamily="34" charset="0"/>
                <a:cs typeface="Calibri" panose="020F0502020204030204" pitchFamily="34" charset="0"/>
              </a:rPr>
              <a:t>Software</a:t>
            </a:r>
            <a:endParaRPr lang="en-IN" sz="20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Python</a:t>
            </a: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Google Colab / VS Code</a:t>
            </a: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TensorFlow / Keras</a:t>
            </a: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NumPy, Pandas, Matplotlib</a:t>
            </a: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PlantVillage Dataset</a:t>
            </a:r>
          </a:p>
        </p:txBody>
      </p:sp>
    </p:spTree>
    <p:extLst>
      <p:ext uri="{BB962C8B-B14F-4D97-AF65-F5344CB8AC3E}">
        <p14:creationId xmlns:p14="http://schemas.microsoft.com/office/powerpoint/2010/main" val="815899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60400" y="1618634"/>
            <a:ext cx="10668000" cy="215326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tx1"/>
                </a:solidFill>
                <a:latin typeface="Cambria" panose="02040503050406030204" pitchFamily="18" charset="0"/>
                <a:ea typeface="Cambria" panose="02040503050406030204" pitchFamily="18" charset="0"/>
              </a:rPr>
              <a:t>https://github.com/Pallavijagadish/Early-wheat-disease-detection</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9D09C-25C6-ECE0-D49D-AEEF1581C5C4}"/>
              </a:ext>
            </a:extLst>
          </p:cNvPr>
          <p:cNvSpPr>
            <a:spLocks noGrp="1"/>
          </p:cNvSpPr>
          <p:nvPr>
            <p:ph type="title"/>
          </p:nvPr>
        </p:nvSpPr>
        <p:spPr/>
        <p:txBody>
          <a:bodyPr/>
          <a:lstStyle/>
          <a:p>
            <a:r>
              <a:rPr lang="en-US" sz="2400" dirty="0"/>
              <a:t>Timeline of the project</a:t>
            </a:r>
            <a:endParaRPr lang="en-IN" sz="2400" dirty="0"/>
          </a:p>
        </p:txBody>
      </p:sp>
      <p:sp>
        <p:nvSpPr>
          <p:cNvPr id="3" name="Text Placeholder 2">
            <a:extLst>
              <a:ext uri="{FF2B5EF4-FFF2-40B4-BE49-F238E27FC236}">
                <a16:creationId xmlns:a16="http://schemas.microsoft.com/office/drawing/2014/main" id="{4633E076-F293-6DAD-69DA-38EFF927505E}"/>
              </a:ext>
            </a:extLst>
          </p:cNvPr>
          <p:cNvSpPr>
            <a:spLocks noGrp="1"/>
          </p:cNvSpPr>
          <p:nvPr>
            <p:ph type="body" idx="1"/>
          </p:nvPr>
        </p:nvSpPr>
        <p:spPr/>
        <p:txBody>
          <a:bodyPr>
            <a:noAutofit/>
          </a:bodyPr>
          <a:lstStyle/>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Review 1</a:t>
            </a:r>
          </a:p>
          <a:p>
            <a:r>
              <a:rPr lang="en-US" sz="2000" dirty="0">
                <a:latin typeface="Calibri" panose="020F0502020204030204" pitchFamily="34" charset="0"/>
                <a:ea typeface="Calibri" panose="020F0502020204030204" pitchFamily="34" charset="0"/>
                <a:cs typeface="Calibri" panose="020F0502020204030204" pitchFamily="34" charset="0"/>
              </a:rPr>
              <a:t>Problem identification</a:t>
            </a:r>
          </a:p>
          <a:p>
            <a:r>
              <a:rPr lang="en-US" sz="2000" dirty="0">
                <a:latin typeface="Calibri" panose="020F0502020204030204" pitchFamily="34" charset="0"/>
                <a:ea typeface="Calibri" panose="020F0502020204030204" pitchFamily="34" charset="0"/>
                <a:cs typeface="Calibri" panose="020F0502020204030204" pitchFamily="34" charset="0"/>
              </a:rPr>
              <a:t>Literature survey</a:t>
            </a:r>
          </a:p>
          <a:p>
            <a:r>
              <a:rPr lang="en-US" sz="2000" dirty="0">
                <a:latin typeface="Calibri" panose="020F0502020204030204" pitchFamily="34" charset="0"/>
                <a:ea typeface="Calibri" panose="020F0502020204030204" pitchFamily="34" charset="0"/>
                <a:cs typeface="Calibri" panose="020F0502020204030204" pitchFamily="34" charset="0"/>
              </a:rPr>
              <a:t>Dataset collection and analysis</a:t>
            </a:r>
          </a:p>
          <a:p>
            <a:pPr marL="508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Review 2</a:t>
            </a:r>
          </a:p>
          <a:p>
            <a:r>
              <a:rPr lang="en-US" sz="2000" dirty="0">
                <a:latin typeface="Calibri" panose="020F0502020204030204" pitchFamily="34" charset="0"/>
                <a:ea typeface="Calibri" panose="020F0502020204030204" pitchFamily="34" charset="0"/>
                <a:cs typeface="Calibri" panose="020F0502020204030204" pitchFamily="34" charset="0"/>
              </a:rPr>
              <a:t>Model architecture design</a:t>
            </a:r>
          </a:p>
          <a:p>
            <a:r>
              <a:rPr lang="en-US" sz="2000" dirty="0">
                <a:latin typeface="Calibri" panose="020F0502020204030204" pitchFamily="34" charset="0"/>
                <a:ea typeface="Calibri" panose="020F0502020204030204" pitchFamily="34" charset="0"/>
                <a:cs typeface="Calibri" panose="020F0502020204030204" pitchFamily="34" charset="0"/>
              </a:rPr>
              <a:t>Image preprocessing implementation</a:t>
            </a:r>
          </a:p>
          <a:p>
            <a:r>
              <a:rPr lang="en-US" sz="2000" dirty="0">
                <a:latin typeface="Calibri" panose="020F0502020204030204" pitchFamily="34" charset="0"/>
                <a:ea typeface="Calibri" panose="020F0502020204030204" pitchFamily="34" charset="0"/>
                <a:cs typeface="Calibri" panose="020F0502020204030204" pitchFamily="34" charset="0"/>
              </a:rPr>
              <a:t>Initial model training</a:t>
            </a:r>
          </a:p>
        </p:txBody>
      </p:sp>
      <p:sp>
        <p:nvSpPr>
          <p:cNvPr id="4" name="Text Placeholder 3">
            <a:extLst>
              <a:ext uri="{FF2B5EF4-FFF2-40B4-BE49-F238E27FC236}">
                <a16:creationId xmlns:a16="http://schemas.microsoft.com/office/drawing/2014/main" id="{E7A0AAD1-E565-4A50-4A7B-AE8BAA6B91E4}"/>
              </a:ext>
            </a:extLst>
          </p:cNvPr>
          <p:cNvSpPr>
            <a:spLocks noGrp="1"/>
          </p:cNvSpPr>
          <p:nvPr>
            <p:ph type="body" idx="2"/>
          </p:nvPr>
        </p:nvSpPr>
        <p:spPr/>
        <p:txBody>
          <a:bodyPr>
            <a:normAutofit/>
          </a:bodyPr>
          <a:lstStyle/>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Review 3</a:t>
            </a:r>
          </a:p>
          <a:p>
            <a:r>
              <a:rPr lang="en-US" sz="2000" dirty="0">
                <a:latin typeface="Calibri" panose="020F0502020204030204" pitchFamily="34" charset="0"/>
                <a:ea typeface="Calibri" panose="020F0502020204030204" pitchFamily="34" charset="0"/>
                <a:cs typeface="Calibri" panose="020F0502020204030204" pitchFamily="34" charset="0"/>
              </a:rPr>
              <a:t>Model optimization and testing</a:t>
            </a:r>
          </a:p>
          <a:p>
            <a:r>
              <a:rPr lang="en-US" sz="2000" dirty="0">
                <a:latin typeface="Calibri" panose="020F0502020204030204" pitchFamily="34" charset="0"/>
                <a:ea typeface="Calibri" panose="020F0502020204030204" pitchFamily="34" charset="0"/>
                <a:cs typeface="Calibri" panose="020F0502020204030204" pitchFamily="34" charset="0"/>
              </a:rPr>
              <a:t>Accuracy and performance evaluation</a:t>
            </a:r>
          </a:p>
          <a:p>
            <a:r>
              <a:rPr lang="en-US" sz="2000" dirty="0">
                <a:latin typeface="Calibri" panose="020F0502020204030204" pitchFamily="34" charset="0"/>
                <a:ea typeface="Calibri" panose="020F0502020204030204" pitchFamily="34" charset="0"/>
                <a:cs typeface="Calibri" panose="020F0502020204030204" pitchFamily="34" charset="0"/>
              </a:rPr>
              <a:t>Visualization and analytics development</a:t>
            </a:r>
          </a:p>
          <a:p>
            <a:pPr marL="508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Review 4</a:t>
            </a:r>
          </a:p>
          <a:p>
            <a:r>
              <a:rPr lang="en-US" sz="2000" dirty="0">
                <a:latin typeface="Calibri" panose="020F0502020204030204" pitchFamily="34" charset="0"/>
                <a:ea typeface="Calibri" panose="020F0502020204030204" pitchFamily="34" charset="0"/>
                <a:cs typeface="Calibri" panose="020F0502020204030204" pitchFamily="34" charset="0"/>
              </a:rPr>
              <a:t>Final testing and validation</a:t>
            </a:r>
          </a:p>
          <a:p>
            <a:r>
              <a:rPr lang="en-US" sz="2000" dirty="0">
                <a:latin typeface="Calibri" panose="020F0502020204030204" pitchFamily="34" charset="0"/>
                <a:ea typeface="Calibri" panose="020F0502020204030204" pitchFamily="34" charset="0"/>
                <a:cs typeface="Calibri" panose="020F0502020204030204" pitchFamily="34" charset="0"/>
              </a:rPr>
              <a:t>Documentation and report preparation</a:t>
            </a:r>
          </a:p>
          <a:p>
            <a:r>
              <a:rPr lang="en-US" sz="2000" dirty="0">
                <a:latin typeface="Calibri" panose="020F0502020204030204" pitchFamily="34" charset="0"/>
                <a:ea typeface="Calibri" panose="020F0502020204030204" pitchFamily="34" charset="0"/>
                <a:cs typeface="Calibri" panose="020F0502020204030204" pitchFamily="34" charset="0"/>
              </a:rPr>
              <a:t>Project demonstration</a:t>
            </a:r>
          </a:p>
          <a:p>
            <a:pPr marL="50800" indent="0">
              <a:buNone/>
            </a:pPr>
            <a:endParaRPr lang="en-IN" dirty="0"/>
          </a:p>
        </p:txBody>
      </p:sp>
    </p:spTree>
    <p:extLst>
      <p:ext uri="{BB962C8B-B14F-4D97-AF65-F5344CB8AC3E}">
        <p14:creationId xmlns:p14="http://schemas.microsoft.com/office/powerpoint/2010/main" val="3706821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7"/>
            <a:ext cx="10668000" cy="679091"/>
          </a:xfrm>
          <a:prstGeom prst="rect">
            <a:avLst/>
          </a:prstGeom>
          <a:noFill/>
          <a:ln>
            <a:noFill/>
          </a:ln>
        </p:spPr>
        <p:txBody>
          <a:bodyPr spcFirstLastPara="1" wrap="square" lIns="91425" tIns="45700" rIns="91425" bIns="45700" anchor="ctr" anchorCtr="0">
            <a:noAutofit/>
          </a:bodyPr>
          <a:lstStyle/>
          <a:p>
            <a:pPr lvl="0"/>
            <a:r>
              <a:rPr lang="en-IN" dirty="0">
                <a:latin typeface="Cambria" panose="02040503050406030204" pitchFamily="18" charset="0"/>
                <a:ea typeface="Cambria" panose="02040503050406030204" pitchFamily="18" charset="0"/>
              </a:rPr>
              <a:t>References :</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C7EC6B8-FF46-6610-F342-A7C04DC0B1D4}"/>
              </a:ext>
            </a:extLst>
          </p:cNvPr>
          <p:cNvSpPr>
            <a:spLocks noGrp="1" noChangeArrowheads="1"/>
          </p:cNvSpPr>
          <p:nvPr>
            <p:ph type="body" idx="1"/>
          </p:nvPr>
        </p:nvSpPr>
        <p:spPr bwMode="auto">
          <a:xfrm>
            <a:off x="812800" y="1140360"/>
            <a:ext cx="1095382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200000"/>
              </a:lnSpc>
              <a:spcBef>
                <a:spcPct val="0"/>
              </a:spcBef>
              <a:spcAft>
                <a:spcPct val="0"/>
              </a:spcAft>
              <a:buClrTx/>
              <a:buSzTx/>
              <a:buNone/>
            </a:pPr>
            <a:r>
              <a:rPr lang="en-US" sz="2000" dirty="0">
                <a:latin typeface="Calibri" panose="020F0502020204030204" pitchFamily="34" charset="0"/>
                <a:ea typeface="Calibri" panose="020F0502020204030204" pitchFamily="34" charset="0"/>
                <a:cs typeface="Calibri" panose="020F0502020204030204" pitchFamily="34" charset="0"/>
              </a:rPr>
              <a:t>[1] S. Mohanty, D. Hughes, and M. Salathé, “Using Deep Learning for Image-Based Plant Disease Detection,” </a:t>
            </a:r>
            <a:r>
              <a:rPr lang="en-US" sz="2000" i="1" dirty="0">
                <a:latin typeface="Calibri" panose="020F0502020204030204" pitchFamily="34" charset="0"/>
                <a:ea typeface="Calibri" panose="020F0502020204030204" pitchFamily="34" charset="0"/>
                <a:cs typeface="Calibri" panose="020F0502020204030204" pitchFamily="34" charset="0"/>
              </a:rPr>
              <a:t>Frontiers in Plant Science</a:t>
            </a:r>
            <a:r>
              <a:rPr lang="en-US" sz="2000" dirty="0">
                <a:latin typeface="Calibri" panose="020F0502020204030204" pitchFamily="34" charset="0"/>
                <a:ea typeface="Calibri" panose="020F0502020204030204" pitchFamily="34" charset="0"/>
                <a:cs typeface="Calibri" panose="020F0502020204030204" pitchFamily="34" charset="0"/>
              </a:rPr>
              <a:t>, 2016.</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[2] K. P. Ferentinos, “Deep Learning Models for Plant Disease Detection,” </a:t>
            </a:r>
            <a:r>
              <a:rPr lang="en-US" sz="2000" i="1" dirty="0">
                <a:latin typeface="Calibri" panose="020F0502020204030204" pitchFamily="34" charset="0"/>
                <a:ea typeface="Calibri" panose="020F0502020204030204" pitchFamily="34" charset="0"/>
                <a:cs typeface="Calibri" panose="020F0502020204030204" pitchFamily="34" charset="0"/>
              </a:rPr>
              <a:t>Computers and Electronics in Agriculture</a:t>
            </a:r>
            <a:r>
              <a:rPr lang="en-US" sz="2000" dirty="0">
                <a:latin typeface="Calibri" panose="020F0502020204030204" pitchFamily="34" charset="0"/>
                <a:ea typeface="Calibri" panose="020F0502020204030204" pitchFamily="34" charset="0"/>
                <a:cs typeface="Calibri" panose="020F0502020204030204" pitchFamily="34" charset="0"/>
              </a:rPr>
              <a:t>, 2018.</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A. Kamilaris and F. Prenafeta-Boldú, “Deep Learning in Agriculture,” </a:t>
            </a:r>
            <a:r>
              <a:rPr lang="en-US" sz="2000" i="1" dirty="0">
                <a:latin typeface="Calibri" panose="020F0502020204030204" pitchFamily="34" charset="0"/>
                <a:ea typeface="Calibri" panose="020F0502020204030204" pitchFamily="34" charset="0"/>
                <a:cs typeface="Calibri" panose="020F0502020204030204" pitchFamily="34" charset="0"/>
              </a:rPr>
              <a:t>Computers and Electronics in Agriculture</a:t>
            </a:r>
            <a:r>
              <a:rPr lang="en-US" sz="2000" dirty="0">
                <a:latin typeface="Calibri" panose="020F0502020204030204" pitchFamily="34" charset="0"/>
                <a:ea typeface="Calibri" panose="020F0502020204030204" pitchFamily="34" charset="0"/>
                <a:cs typeface="Calibri" panose="020F0502020204030204" pitchFamily="34" charset="0"/>
              </a:rPr>
              <a:t>, 2018.</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TotalTime>
  <Words>1035</Words>
  <Application>Microsoft Office PowerPoint</Application>
  <PresentationFormat>Widescreen</PresentationFormat>
  <Paragraphs>126</Paragraphs>
  <Slides>14</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Verdana</vt:lpstr>
      <vt:lpstr>Bioinformatics</vt:lpstr>
      <vt:lpstr>Early Detection of Wheat Diseases</vt:lpstr>
      <vt:lpstr>Problem Statement Number: SIH25268</vt:lpstr>
      <vt:lpstr>Abstract</vt:lpstr>
      <vt:lpstr>Literature Survey</vt:lpstr>
      <vt:lpstr>Objective:</vt:lpstr>
      <vt:lpstr> Existing Methods and Drawbacks </vt:lpstr>
      <vt:lpstr> Proposed Method &amp; Feasibility Study </vt:lpstr>
      <vt:lpstr>Architecture Diagram</vt:lpstr>
      <vt:lpstr> Modules </vt:lpstr>
      <vt:lpstr>Technology Stack Components</vt:lpstr>
      <vt:lpstr>Github Link</vt:lpstr>
      <vt:lpstr>Timeline of the project</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PALLAVI J</cp:lastModifiedBy>
  <cp:revision>70</cp:revision>
  <dcterms:modified xsi:type="dcterms:W3CDTF">2026-02-07T08:36:36Z</dcterms:modified>
</cp:coreProperties>
</file>